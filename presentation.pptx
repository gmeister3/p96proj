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389120" cy="67939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9AD2"/>
                </a:solidFill>
              </a:rPr>
              <a:t>COSC 3P96  |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Ensemble Learning
for Robust Facial
Attribute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Dataset: CelebA     Target: Smiling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7315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89AD2"/>
                </a:solidFill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CCCCCC"/>
                </a:solidFill>
              </a:rPr>
              <a:t>• Three tree-based classifiers compared on a real binary classification task</a:t>
            </a:r>
          </a:p>
          <a:p>
            <a:pPr/>
            <a:r>
              <a:rPr sz="1700" b="0">
                <a:solidFill>
                  <a:srgbClr val="CCCCCC"/>
                </a:solidFill>
              </a:rPr>
              <a:t>• Decision Tree  →  Random Forest  →  AdaBoost</a:t>
            </a:r>
          </a:p>
          <a:p>
            <a:pPr/>
            <a:r>
              <a:rPr sz="1700" b="0">
                <a:solidFill>
                  <a:srgbClr val="CCCCCC"/>
                </a:solidFill>
              </a:rPr>
              <a:t>• 202 000 CelebA celebrity images, 39 binary facial attributes</a:t>
            </a:r>
          </a:p>
          <a:p>
            <a:pPr/>
            <a:r>
              <a:rPr sz="1700" b="0">
                <a:solidFill>
                  <a:srgbClr val="CCCCCC"/>
                </a:solidFill>
              </a:rPr>
              <a:t>• Goal: predict whether a person is Smiling</a:t>
            </a:r>
          </a:p>
          <a:p>
            <a:pPr/>
            <a:r>
              <a:rPr sz="1700" b="0">
                <a:solidFill>
                  <a:srgbClr val="CCCCCC"/>
                </a:solidFill>
              </a:rPr>
              <a:t>• "One tree makes mistakes → many trees fix each other
    → a smarter trainer focuses on hard cases"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02  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3566160" cy="53035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60520" y="777240"/>
            <a:ext cx="3566160" cy="53035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0" y="777240"/>
            <a:ext cx="3566160" cy="53035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9AD2"/>
                </a:solidFill>
              </a:rPr>
              <a:t>CelebA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CCCCCC"/>
                </a:solidFill>
              </a:rPr>
              <a:t>• 202 000 celebrity photos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40 binary facial attributes per image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Drop 'Smiling' → 39 input features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All features are ±1 (converted to 0/1)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Widely used CV fairness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868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Class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258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CCCCCC"/>
                </a:solidFill>
              </a:rPr>
              <a:t>• ~48 % labelled Smiling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~52 % labelled Not Smiling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Near-perfect balance →
  accuracy is a meaningful metric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No need for class-weighted scoring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Stratified splits preserve the 48 % rate in every subset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868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C06D"/>
                </a:solidFill>
              </a:rPr>
              <a:t>Train / Val / Test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CCCCCC"/>
                </a:solidFill>
              </a:rPr>
              <a:t>• 60 % Training – fit model weights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20 % Validation – tune hyperparams
  (depth, n_estimators)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20 % Test – held out until the end;
  unbiased performance estimate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NEVER tune on the test set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stratify=y used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03  Baseline: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CCCCCC"/>
                </a:solidFill>
              </a:rPr>
              <a:t>• Recursively splits data on the most informative feature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Split criterion: Gini impurity  (1 − Σpᵢ²)
  Pure node → 0;  50/50 node → 0.5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Key hyperparameter: maximum depth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Shallow → high bias (underfits)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Deep → high variance (overfits, memorises noise)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Sweet spot found at depth = 3 on validation set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random_state=42 for full reproducibility</a:t>
            </a:r>
          </a:p>
        </p:txBody>
      </p:sp>
      <p:pic>
        <p:nvPicPr>
          <p:cNvPr id="5" name="Picture 4" descr="fig1_decision_tree_depth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685800"/>
            <a:ext cx="6309360" cy="3549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594360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Fig 1: Depth vs Accuracy — the bias–variance trade-off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04  Bagging: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5029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50" b="0">
                <a:solidFill>
                  <a:srgbClr val="CCCCCC"/>
                </a:solidFill>
              </a:rPr>
              <a:t>• Grow many trees, take a majority vote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Two sources of randomness → decorrelated trees: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Bootstrap sampling: each tree trained on a random
  draw of N samples with replacement (~63 % unique)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Feature subsets: each split considers only √p features
  → prevents one strong feature from dominating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Averaging T uncorrelated estimators reduces variance
  by ~factor of 1/T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Accuracy stabilises after ~100 trees (see Fig 2)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Adding more trees never hurts — it just stops helping</a:t>
            </a:r>
          </a:p>
          <a:p>
            <a:pPr/>
            <a:r>
              <a:rPr sz="1450" b="0">
                <a:solidFill>
                  <a:srgbClr val="CCCCCC"/>
                </a:solidFill>
              </a:rPr>
              <a:t>• Best n_estimators from validation; retrain on train+val
  before final test evaluation</a:t>
            </a:r>
          </a:p>
        </p:txBody>
      </p:sp>
      <p:pic>
        <p:nvPicPr>
          <p:cNvPr id="5" name="Picture 4" descr="fig2_random_forest_n_estim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685800"/>
            <a:ext cx="6309360" cy="4056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594360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Fig 2: n_estimators vs Validation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05  Boosting: AdaBoost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How AdaBoost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CCCCCC"/>
                </a:solidFill>
              </a:rPr>
              <a:t>• Builds weak learners (stumps, depth=1) sequentially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After each stump, up-weight misclassified samples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Stump voting weight:  α = ½ ln((1−ε)/ε)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Lower error → larger α → more say in final vote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200 stumps, learning_rate = 0.5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Reduces bias (not variance like RF)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9AD2"/>
                </a:solidFill>
              </a:rPr>
              <a:t>RF vs AdaBoost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4663440"/>
          <a:ext cx="114300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343400"/>
                <a:gridCol w="4343400"/>
              </a:tblGrid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A35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A35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>AdaBoost</a:t>
                      </a:r>
                    </a:p>
                  </a:txBody>
                  <a:tcPr>
                    <a:solidFill>
                      <a:srgbClr val="1A355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>Trees built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In parallel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Sequentially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>Main benefit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Reduces variance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Reduces bias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>Sample strategy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Bootstrap (random)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Reweight hard samples</a:t>
                      </a:r>
                    </a:p>
                  </a:txBody>
                  <a:tcPr>
                    <a:solidFill>
                      <a:srgbClr val="1E1E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9AD2"/>
                          </a:solidFill>
                        </a:rPr>
                        <a:t>Sensitive to noise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216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Sequential Training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34440"/>
            <a:ext cx="5943600" cy="438912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26187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1.  Round 1:  Equal weights (1/N)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709928"/>
            <a:ext cx="5943600" cy="438912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73736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2.  Fit stump₁  →  compute α₁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185416"/>
            <a:ext cx="5943600" cy="438912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21284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3.  Up-weight misclassified samples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660904"/>
            <a:ext cx="5943600" cy="438912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68833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4.  Round 2:  Fit stump₂ on reweighted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136392"/>
            <a:ext cx="5943600" cy="438912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16382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5.  Repeat for 200 rounds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611880"/>
            <a:ext cx="5943600" cy="438912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3931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6.  Final vote: Σ αₜ × stumptₜ(x)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06  Results: ROC Curves</a:t>
            </a:r>
          </a:p>
        </p:txBody>
      </p:sp>
      <p:pic>
        <p:nvPicPr>
          <p:cNvPr id="4" name="Picture 3" descr="fig3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6858000" cy="5878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5943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Fig 3: ROC Curves — all three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777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How to Read This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23444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CCCCCC"/>
                </a:solidFill>
              </a:rPr>
              <a:t>• X-axis: False Positive Rate
  (wrongly flagged non-smiles)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Y-axis: True Positive Rate
  (correctly detected smiles)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Perfect model → top-left corner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Random coin flip → diagonal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AUC = area under curve;
  higher is better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Ensemble curves bulge
  further toward top-left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Gap largest at low FPR —
  the strict operating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07  Results: Feature Importance (Random Forest)</a:t>
            </a:r>
          </a:p>
        </p:txBody>
      </p:sp>
      <p:pic>
        <p:nvPicPr>
          <p:cNvPr id="4" name="Picture 3" descr="fig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6858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5943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Fig 4: Top-15 Feature Importances (MDI)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777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What It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23444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50" b="0">
                <a:solidFill>
                  <a:srgbClr val="CCCCCC"/>
                </a:solidFill>
              </a:rPr>
              <a:t>• Importance = Mean Decrease in Impurity
  averaged over all trees &amp; splits</a:t>
            </a:r>
          </a:p>
          <a:p>
            <a:pPr/>
            <a:r>
              <a:rPr sz="1350" b="0">
                <a:solidFill>
                  <a:srgbClr val="CCCCCC"/>
                </a:solidFill>
              </a:rPr>
              <a:t>• Top predictor: Mouth_Slightly_Open
  → smiling parts the lips / exposes teeth</a:t>
            </a:r>
          </a:p>
          <a:p>
            <a:pPr/>
            <a:r>
              <a:rPr sz="1350" b="0">
                <a:solidFill>
                  <a:srgbClr val="CCCCCC"/>
                </a:solidFill>
              </a:rPr>
              <a:t>• High_Cheekbones → smiling raises cheeks</a:t>
            </a:r>
          </a:p>
          <a:p>
            <a:pPr/>
            <a:r>
              <a:rPr sz="1350" b="0">
                <a:solidFill>
                  <a:srgbClr val="CCCCCC"/>
                </a:solidFill>
              </a:rPr>
              <a:t>• Attractive → smiling is an attractive
  facial expression</a:t>
            </a:r>
          </a:p>
          <a:p>
            <a:pPr/>
            <a:r>
              <a:rPr sz="1350" b="0">
                <a:solidFill>
                  <a:srgbClr val="CCCCCC"/>
                </a:solidFill>
              </a:rPr>
              <a:t>• Sanity-check: features align with
  anatomical &amp; social intuition</a:t>
            </a:r>
          </a:p>
          <a:p>
            <a:pPr/>
            <a:r>
              <a:rPr sz="1350" b="0">
                <a:solidFill>
                  <a:srgbClr val="CCCCCC"/>
                </a:solidFill>
              </a:rPr>
              <a:t>• MDI measures predictive correlation,
  not causation</a:t>
            </a:r>
          </a:p>
          <a:p>
            <a:pPr/>
            <a:r>
              <a:rPr sz="1350" b="0">
                <a:solidFill>
                  <a:srgbClr val="CCCCCC"/>
                </a:solidFill>
              </a:rPr>
              <a:t>• All features binary → MDI bias toward
  high-cardinality features is minimal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08  Results: Metric Comparison</a:t>
            </a:r>
          </a:p>
        </p:txBody>
      </p:sp>
      <p:pic>
        <p:nvPicPr>
          <p:cNvPr id="4" name="Picture 3" descr="fig5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7498079" cy="3749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59436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Fig 5: Accuracy / Precision / Recall / F1 / AUC across all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777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Metric Definitions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234440"/>
            <a:ext cx="3840480" cy="8229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271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AD2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(TP+TN)/N — reliable when balanced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148840"/>
            <a:ext cx="3840480" cy="82296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854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AD2"/>
                </a:solidFill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14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TP/(TP+FP) — few false alarms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063240"/>
            <a:ext cx="3840480" cy="8229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0998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AD2"/>
                </a:solidFill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429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TP/(TP+FN) — few missed detections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3977640"/>
            <a:ext cx="3840480" cy="82296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014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AD2"/>
                </a:solidFill>
              </a:rP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3434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Harmonic mean of P &amp; 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4892040"/>
            <a:ext cx="3840480" cy="8229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928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AD2"/>
                </a:solidFill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257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Ranking quality; threshold-independent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8978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Both ensemble methods match or beat
the single Decision Tree across all 5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9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9AD2"/>
                </a:solidFill>
              </a:rPr>
              <a:t>09  Discussion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61872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CCCCCC"/>
                </a:solidFill>
              </a:rPr>
              <a:t>• Combining learners produces more robust classifiers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Random Forest reduced variance via bagging
  of decorrelated trees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AdaBoost reduced bias via sequential reweighting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Both outperformed the single Decision Tree
  across all five metrics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Top features (Mouth_Slightly_Open, High_Cheekbones)
  align with anatomical intuition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6666"/>
                </a:solidFill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834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CCCCCC"/>
                </a:solidFill>
              </a:rPr>
              <a:t>• Attribute labels only — not raw pixels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Label noise from human annotators (hurts AdaBoost)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CelebA skews toward lighter skin tones → fairness risk</a:t>
            </a:r>
          </a:p>
          <a:p>
            <a:pPr/>
            <a:r>
              <a:rPr sz="1400" b="0">
                <a:solidFill>
                  <a:srgbClr val="CCCCCC"/>
                </a:solidFill>
              </a:rPr>
              <a:t>• A CNN on raw images would push accuracy much higher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777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C06D"/>
                </a:solidFill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61872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CCCCCC"/>
                </a:solidFill>
              </a:rPr>
              <a:t>• Gradient Boosted Trees — XGBoost / LightGBM —
  typically outperform AdaBoost on tabular data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Grid search over learning_rate, depth, n_estimators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Permutation importance / SHAP for more robust
  feature attribution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k-fold cross-validation for lower-variance
  generalisation estimates</a:t>
            </a:r>
          </a:p>
          <a:p>
            <a:pPr/>
            <a:r>
              <a:rPr sz="1500" b="0">
                <a:solidFill>
                  <a:srgbClr val="CCCCCC"/>
                </a:solidFill>
              </a:rPr>
              <a:t>• CNN operating on raw CelebA pixels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526280"/>
            <a:ext cx="5669280" cy="21031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6177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89AD2"/>
                </a:solidFill>
              </a:rPr>
              <a:t>"One tree makes mistakes →
 many trees fix each other →
 a smarter trainer focuses on hard cases."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